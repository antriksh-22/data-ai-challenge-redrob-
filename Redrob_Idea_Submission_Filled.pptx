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Manrope SemiBold"/>
      <p:regular r:id="rId17"/>
      <p:bold r:id="rId18"/>
    </p:embeddedFont>
    <p:embeddedFont>
      <p:font typeface="Manrope ExtraBold"/>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anropeSemiBold-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ManropeExtraBold-bold.fntdata"/><Relationship Id="rId6" Type="http://schemas.openxmlformats.org/officeDocument/2006/relationships/slide" Target="slides/slide1.xml"/><Relationship Id="rId18" Type="http://schemas.openxmlformats.org/officeDocument/2006/relationships/font" Target="fonts/ManropeSemiBol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5dd6731f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5dd6731f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5dd6731f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e5dd6731f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5dd6731f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5dd6731f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5dd6731f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5dd6731f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5dd6731f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5dd6731f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5dd6731f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5dd6731f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5dd6731f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5dd6731f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5dd6731f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5dd6731f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5dd6731f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5dd6731f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5dd6731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5dd6731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background redrob.png"/>
          <p:cNvPicPr preferRelativeResize="0"/>
          <p:nvPr/>
        </p:nvPicPr>
        <p:blipFill>
          <a:blip r:embed="rId3">
            <a:alphaModFix/>
          </a:blip>
          <a:stretch>
            <a:fillRect/>
          </a:stretch>
        </p:blipFill>
        <p:spPr>
          <a:xfrm>
            <a:off x="0" y="0"/>
            <a:ext cx="9144003" cy="5143490"/>
          </a:xfrm>
          <a:prstGeom prst="rect">
            <a:avLst/>
          </a:prstGeom>
          <a:noFill/>
          <a:ln>
            <a:noFill/>
          </a:ln>
        </p:spPr>
      </p:pic>
      <p:sp>
        <p:nvSpPr>
          <p:cNvPr id="55" name="Google Shape;55;p13"/>
          <p:cNvSpPr txBox="1"/>
          <p:nvPr/>
        </p:nvSpPr>
        <p:spPr>
          <a:xfrm>
            <a:off x="311700" y="3065023"/>
            <a:ext cx="8520600" cy="4437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lang="en-GB">
                <a:solidFill>
                  <a:srgbClr val="202729"/>
                </a:solidFill>
                <a:latin typeface="Manrope SemiBold"/>
                <a:ea typeface="Manrope SemiBold"/>
                <a:cs typeface="Manrope SemiBold"/>
                <a:sym typeface="Manrope SemiBold"/>
              </a:rPr>
              <a:t>Team Name: Antriksh-22</a:t>
            </a:r>
            <a:endParaRPr>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11705" y="3916185"/>
            <a:ext cx="8520600" cy="40860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None/>
            </a:pPr>
            <a:r>
              <a:rPr lang="en-GB">
                <a:solidFill>
                  <a:srgbClr val="202729"/>
                </a:solidFill>
                <a:latin typeface="Manrope SemiBold"/>
                <a:ea typeface="Manrope SemiBold"/>
                <a:cs typeface="Manrope SemiBold"/>
                <a:sym typeface="Manrope SemiBold"/>
              </a:rPr>
              <a:t>Problem Statement: Intelligent Candidate Discovery &amp; Ranking for Redrob AI</a:t>
            </a:r>
            <a:endParaRPr>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311688" y="3472483"/>
            <a:ext cx="8520600" cy="4437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lang="en-GB">
                <a:solidFill>
                  <a:srgbClr val="202729"/>
                </a:solidFill>
                <a:latin typeface="Manrope SemiBold"/>
                <a:ea typeface="Manrope SemiBold"/>
                <a:cs typeface="Manrope SemiBold"/>
                <a:sym typeface="Manrope SemiBold"/>
              </a:rPr>
              <a:t>Team Leader Name: Antriksh</a:t>
            </a:r>
            <a:endParaRPr>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title="overlay redrob.png"/>
          <p:cNvPicPr preferRelativeResize="0"/>
          <p:nvPr/>
        </p:nvPicPr>
        <p:blipFill rotWithShape="1">
          <a:blip r:embed="rId3">
            <a:alphaModFix/>
          </a:blip>
          <a:srcRect b="0" l="0" r="0" t="0"/>
          <a:stretch/>
        </p:blipFill>
        <p:spPr>
          <a:xfrm>
            <a:off x="0" y="0"/>
            <a:ext cx="9143997" cy="5143490"/>
          </a:xfrm>
          <a:prstGeom prst="rect">
            <a:avLst/>
          </a:prstGeom>
          <a:noFill/>
          <a:ln>
            <a:noFill/>
          </a:ln>
        </p:spPr>
      </p:pic>
      <p:sp>
        <p:nvSpPr>
          <p:cNvPr id="63" name="Google Shape;63;p14"/>
          <p:cNvSpPr txBox="1"/>
          <p:nvPr/>
        </p:nvSpPr>
        <p:spPr>
          <a:xfrm>
            <a:off x="480500" y="812600"/>
            <a:ext cx="24030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Solution Overview</a:t>
            </a:r>
            <a:endParaRPr>
              <a:solidFill>
                <a:srgbClr val="202729"/>
              </a:solidFill>
              <a:latin typeface="Manrope ExtraBold"/>
              <a:ea typeface="Manrope ExtraBold"/>
              <a:cs typeface="Manrope ExtraBold"/>
              <a:sym typeface="Manrope ExtraBold"/>
            </a:endParaRPr>
          </a:p>
        </p:txBody>
      </p:sp>
      <p:sp>
        <p:nvSpPr>
          <p:cNvPr id="64" name="Google Shape;64;p14"/>
          <p:cNvSpPr txBox="1"/>
          <p:nvPr/>
        </p:nvSpPr>
        <p:spPr>
          <a:xfrm>
            <a:off x="375600" y="1278512"/>
            <a:ext cx="8520600" cy="32568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A hybrid AI ranking engine that identifies the best Senior AI Engineer candidates for Redrob. It combines JD understanding, production-signal scoring, semantic profile matching, behavioral indicators, and explainable final ranking into one reproducible pipeline.</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Traditional filters over-rank keyword stuffing. Our approach scores evidence: AI/backend skill depth, years fit, production ownership, recruiter activity, GitHub signal, tenure stability, location/relocation, and role context. Every selected candidate receives a concise reason tied to observed data.</a:t>
            </a:r>
            <a:endParaRPr sz="1365">
              <a:solidFill>
                <a:srgbClr val="202729"/>
              </a:solidFill>
              <a:latin typeface="Manrope SemiBold"/>
              <a:ea typeface="Manrope SemiBold"/>
              <a:cs typeface="Manrope SemiBold"/>
              <a:sym typeface="Manrope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overlay redrob.png"/>
          <p:cNvPicPr preferRelativeResize="0"/>
          <p:nvPr/>
        </p:nvPicPr>
        <p:blipFill rotWithShape="1">
          <a:blip r:embed="rId3">
            <a:alphaModFix/>
          </a:blip>
          <a:srcRect b="0" l="0" r="0" t="0"/>
          <a:stretch/>
        </p:blipFill>
        <p:spPr>
          <a:xfrm>
            <a:off x="-12" y="0"/>
            <a:ext cx="9144018" cy="5143501"/>
          </a:xfrm>
          <a:prstGeom prst="rect">
            <a:avLst/>
          </a:prstGeom>
          <a:noFill/>
          <a:ln>
            <a:noFill/>
          </a:ln>
        </p:spPr>
      </p:pic>
      <p:sp>
        <p:nvSpPr>
          <p:cNvPr id="70" name="Google Shape;70;p15"/>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rgbClr val="000000"/>
              </a:buClr>
              <a:buSzPts val="935"/>
              <a:buFont typeface="Arial"/>
              <a:buNone/>
            </a:pPr>
            <a:r>
              <a:rPr lang="en-GB">
                <a:solidFill>
                  <a:srgbClr val="202729"/>
                </a:solidFill>
                <a:latin typeface="Manrope ExtraBold"/>
                <a:ea typeface="Manrope ExtraBold"/>
                <a:cs typeface="Manrope ExtraBold"/>
                <a:sym typeface="Manrope ExtraBold"/>
              </a:rPr>
              <a:t>JD Understanding &amp; Candidate Evaluation</a:t>
            </a:r>
            <a:r>
              <a:rPr lang="en-GB">
                <a:solidFill>
                  <a:srgbClr val="202729"/>
                </a:solidFill>
                <a:latin typeface="Manrope ExtraBold"/>
                <a:ea typeface="Manrope ExtraBold"/>
                <a:cs typeface="Manrope ExtraBold"/>
                <a:sym typeface="Manrope ExtraBold"/>
              </a:rPr>
              <a:t/>
            </a:r>
            <a:endParaRPr>
              <a:solidFill>
                <a:srgbClr val="202729"/>
              </a:solidFill>
              <a:latin typeface="Manrope ExtraBold"/>
              <a:ea typeface="Manrope ExtraBold"/>
              <a:cs typeface="Manrope ExtraBold"/>
              <a:sym typeface="Manrope ExtraBold"/>
            </a:endParaRPr>
          </a:p>
        </p:txBody>
      </p:sp>
      <p:sp>
        <p:nvSpPr>
          <p:cNvPr id="71" name="Google Shape;71;p15"/>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Extracted requirements: 5-9 years preferred, production ML systems, embeddings, retrieval, ranking, LLM re-ranking, strong Python/backend capability, scrappy product shipping, evaluation infrastructure, mentorship, and founding-team ownership.</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Important signals: core AI skills, profile summary, career history, skill proficiency/duration, production language in role descriptions, average tenure, GitHub activity, recruiter response rate, interview completion, open-to-work status, and relocation/location suitability.</a:t>
            </a:r>
            <a:endParaRPr sz="1365">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overlay redrob.png"/>
          <p:cNvPicPr preferRelativeResize="0"/>
          <p:nvPr/>
        </p:nvPicPr>
        <p:blipFill rotWithShape="1">
          <a:blip r:embed="rId3">
            <a:alphaModFix/>
          </a:blip>
          <a:srcRect b="0" l="0" r="0" t="0"/>
          <a:stretch/>
        </p:blipFill>
        <p:spPr>
          <a:xfrm>
            <a:off x="0" y="0"/>
            <a:ext cx="9144003" cy="5143490"/>
          </a:xfrm>
          <a:prstGeom prst="rect">
            <a:avLst/>
          </a:prstGeom>
          <a:noFill/>
          <a:ln>
            <a:noFill/>
          </a:ln>
        </p:spPr>
      </p:pic>
      <p:sp>
        <p:nvSpPr>
          <p:cNvPr id="77" name="Google Shape;77;p16"/>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Ranking Methodology</a:t>
            </a:r>
            <a:endParaRPr>
              <a:solidFill>
                <a:srgbClr val="202729"/>
              </a:solidFill>
              <a:latin typeface="Manrope ExtraBold"/>
              <a:ea typeface="Manrope ExtraBold"/>
              <a:cs typeface="Manrope ExtraBold"/>
              <a:sym typeface="Manrope ExtraBold"/>
            </a:endParaRPr>
          </a:p>
        </p:txBody>
      </p:sp>
      <p:sp>
        <p:nvSpPr>
          <p:cNvPr id="78" name="Google Shape;78;p16"/>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The pipeline streams all 100,000 JSONL profiles, converts each profile into a normalized evidence text, computes sparse hashed semantic similarity to the JD, and keeps only the strongest candidates in memory.</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Algorithms: deterministic hashed vector similarity, weighted skill matching, 5-9 year experience fit, behavioral multiplier, tenure penalty for short stints, location/relocation bonus, and optional Gemini reranking when GEMINI_API_KEY is available.</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Final local score = 25% semantic + 25% AI/backend skill depth + 20% experience + 15% behavioral quality + 10% tenure + 5% location fit, with guardrail penalties for weak core skills, low experience, and job hopping.</a:t>
            </a:r>
            <a:endParaRPr sz="1365">
              <a:solidFill>
                <a:srgbClr val="202729"/>
              </a:solidFill>
              <a:latin typeface="Manrope SemiBold"/>
              <a:ea typeface="Manrope SemiBold"/>
              <a:cs typeface="Manrope SemiBold"/>
              <a:sym typeface="Manrope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title="overlay redrob.png"/>
          <p:cNvPicPr preferRelativeResize="0"/>
          <p:nvPr/>
        </p:nvPicPr>
        <p:blipFill rotWithShape="1">
          <a:blip r:embed="rId3">
            <a:alphaModFix/>
          </a:blip>
          <a:srcRect b="0" l="0" r="0" t="0"/>
          <a:stretch/>
        </p:blipFill>
        <p:spPr>
          <a:xfrm>
            <a:off x="0" y="0"/>
            <a:ext cx="9144003" cy="5143490"/>
          </a:xfrm>
          <a:prstGeom prst="rect">
            <a:avLst/>
          </a:prstGeom>
          <a:noFill/>
          <a:ln>
            <a:noFill/>
          </a:ln>
        </p:spPr>
      </p:pic>
      <p:sp>
        <p:nvSpPr>
          <p:cNvPr id="84" name="Google Shape;84;p17"/>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Explainability &amp; Data Validation</a:t>
            </a:r>
            <a:endParaRPr>
              <a:solidFill>
                <a:srgbClr val="202729"/>
              </a:solidFill>
              <a:latin typeface="Manrope ExtraBold"/>
              <a:ea typeface="Manrope ExtraBold"/>
              <a:cs typeface="Manrope ExtraBold"/>
              <a:sym typeface="Manrope ExtraBold"/>
            </a:endParaRPr>
          </a:p>
        </p:txBody>
      </p:sp>
      <p:sp>
        <p:nvSpPr>
          <p:cNvPr id="85" name="Google Shape;85;p17"/>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Each row includes a human-readable reason summarizing title, years, strongest AI/backend skills, behavior score, and tenure score. This makes the ranking auditable by recruiters and challenge reviewers.</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Justifications are generated from structured candidate fields only: profile, skills, career history, and Redrob signals. The default mode is deterministic and does not invent facts.</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Missing values fall back to neutral defaults. Suspicious patterns such as short tenures, weak production evidence, low AI/backend skill depth, or poor engagement reduce the score instead of crashing the pipeline.</a:t>
            </a:r>
            <a:endParaRPr sz="1365">
              <a:solidFill>
                <a:srgbClr val="202729"/>
              </a:solidFill>
              <a:latin typeface="Manrope SemiBold"/>
              <a:ea typeface="Manrope SemiBold"/>
              <a:cs typeface="Manrope SemiBold"/>
              <a:sym typeface="Manrope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8" title="overlay redrob.png"/>
          <p:cNvPicPr preferRelativeResize="0"/>
          <p:nvPr/>
        </p:nvPicPr>
        <p:blipFill rotWithShape="1">
          <a:blip r:embed="rId3">
            <a:alphaModFix/>
          </a:blip>
          <a:srcRect b="0" l="0" r="0" t="0"/>
          <a:stretch/>
        </p:blipFill>
        <p:spPr>
          <a:xfrm>
            <a:off x="0" y="0"/>
            <a:ext cx="9144003" cy="5143490"/>
          </a:xfrm>
          <a:prstGeom prst="rect">
            <a:avLst/>
          </a:prstGeom>
          <a:noFill/>
          <a:ln>
            <a:noFill/>
          </a:ln>
        </p:spPr>
      </p:pic>
      <p:sp>
        <p:nvSpPr>
          <p:cNvPr id="91" name="Google Shape;91;p18"/>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End-to-End Workflow</a:t>
            </a:r>
            <a:endParaRPr>
              <a:solidFill>
                <a:srgbClr val="202729"/>
              </a:solidFill>
              <a:latin typeface="Manrope ExtraBold"/>
              <a:ea typeface="Manrope ExtraBold"/>
              <a:cs typeface="Manrope ExtraBold"/>
              <a:sym typeface="Manrope ExtraBold"/>
            </a:endParaRPr>
          </a:p>
        </p:txBody>
      </p:sp>
      <p:sp>
        <p:nvSpPr>
          <p:cNvPr id="92" name="Google Shape;92;p18"/>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1. Read Redrob JD from DOCX. 2. Stream candidates.jsonl. 3. Build evidence text per candidate. 4. Score semantic, skills, experience, behavior, tenure, and location. 5. Keep the top pool. 6. Optionally rerank top 15 with Gemini. 7. Export valid 100-row CSV and ranked PDF report.</a:t>
            </a:r>
            <a:endParaRPr sz="1365">
              <a:solidFill>
                <a:srgbClr val="202729"/>
              </a:solidFill>
              <a:latin typeface="Manrope SemiBold"/>
              <a:ea typeface="Manrope SemiBold"/>
              <a:cs typeface="Manrope SemiBold"/>
              <a:sym typeface="Manrope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9" title="overlay redrob.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98" name="Google Shape;98;p19"/>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System Architecture
JobDescriptionAnalyzer: reads/parses the JD.
EmbeddingEngine: deterministic sparse vectors, optional Gemini embeddings/rerank path.
CandidateEvaluator: streaming scorer over JSON/JSONL candidate data.
GeminiReranker: optional qualitative top-15 refinement with safe fallback.
Deliverables: redrob_submission.csv, ranked_candidates.csv, recommended_candidates_report.pdf, PPT.</a:t>
            </a:r>
            <a:endParaRPr>
              <a:solidFill>
                <a:srgbClr val="202729"/>
              </a:solidFill>
              <a:latin typeface="Manrope ExtraBold"/>
              <a:ea typeface="Manrope ExtraBold"/>
              <a:cs typeface="Manrope ExtraBold"/>
              <a:sym typeface="Manrope Extra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0" title="overlay redrob.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04" name="Google Shape;104;p20"/>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Results &amp; Performance</a:t>
            </a:r>
            <a:endParaRPr>
              <a:solidFill>
                <a:srgbClr val="202729"/>
              </a:solidFill>
              <a:latin typeface="Manrope ExtraBold"/>
              <a:ea typeface="Manrope ExtraBold"/>
              <a:cs typeface="Manrope ExtraBold"/>
              <a:sym typeface="Manrope ExtraBold"/>
            </a:endParaRPr>
          </a:p>
        </p:txBody>
      </p:sp>
      <p:sp>
        <p:nvSpPr>
          <p:cNvPr id="105" name="Google Shape;105;p20"/>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Top results are senior AI/ML/NLP engineers with strong retrieval, RAG, vector DB, Python, MLOps, and stable tenure signals.
#1 CAND_0018499 - score 1.0000: Senior Machine Learning Engineer with 7.2 yrs; AI/backend match 100/100 via RAG, Embeddings, Recommendation Systems, Pinecone, Weaviate; behavior 100, tenure 100.
#2 CAND_0046525 - score 0.9935: Senior Machine Learning Engineer with 6.1 yrs; AI/backend match 100/100 via LLMs, pgvector, LangChain, Machine Learning, LlamaIndex; behavior 100, tenure 100.
#3 CAND_0042029 - score 0.9870: Senior Data Scientist with 6.5 yrs; AI/backend match 100/100 via RAG, Embeddings, Weaviate; behavior 100, tenure 100.
#4 CAND_0092278 - score 0.9805: Senior NLP Engineer with 6.8 yrs; AI/backend match 100/100 via LLMs, pgvector, Machine Learning, Milvus; behavior 100, tenure 100.
#5 CAND_0005260 - score 0.9740: Senior NLP Engineer with 5.2 yrs; AI/backend match 100/100 via Python, RAG, Embeddings, pgvector, MLOps; behavior 100, tenure 100.</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The full 100,000-candidate dataset was streamed locally in about 98 seconds on this machine. The scorer uses standard-library sparse vectors, so it avoids large memory usage and remains free-tier friendly.</a:t>
            </a:r>
            <a:endParaRPr sz="1365">
              <a:solidFill>
                <a:srgbClr val="202729"/>
              </a:solidFill>
              <a:latin typeface="Manrope SemiBold"/>
              <a:ea typeface="Manrope SemiBold"/>
              <a:cs typeface="Manrope SemiBold"/>
              <a:sym typeface="Manrope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1" title="overlay redrob.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11" name="Google Shape;111;p21"/>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Technologies Used</a:t>
            </a:r>
            <a:endParaRPr>
              <a:solidFill>
                <a:srgbClr val="202729"/>
              </a:solidFill>
              <a:latin typeface="Manrope ExtraBold"/>
              <a:ea typeface="Manrope ExtraBold"/>
              <a:cs typeface="Manrope ExtraBold"/>
              <a:sym typeface="Manrope ExtraBold"/>
            </a:endParaRPr>
          </a:p>
        </p:txBody>
      </p:sp>
      <p:sp>
        <p:nvSpPr>
          <p:cNvPr id="112" name="Google Shape;112;p21"/>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lang="en-GB" sz="1365">
                <a:solidFill>
                  <a:srgbClr val="202729"/>
                </a:solidFill>
                <a:latin typeface="Manrope SemiBold"/>
                <a:ea typeface="Manrope SemiBold"/>
                <a:cs typeface="Manrope SemiBold"/>
                <a:sym typeface="Manrope SemiBold"/>
              </a:rPr>
              <a:t>Python 3, CSV/JSON streaming, DOCX XML extraction, sparse hashed vectors, deterministic scoring heuristics, optional modern Google GenAI SDK, and the official Redrob validator.</a:t>
            </a:r>
            <a:endParaRPr sz="1365">
              <a:solidFill>
                <a:srgbClr val="202729"/>
              </a:solidFill>
              <a:latin typeface="Manrope SemiBold"/>
              <a:ea typeface="Manrope SemiBold"/>
              <a:cs typeface="Manrope SemiBold"/>
              <a:sym typeface="Manrope SemiBold"/>
            </a:endParaRPr>
          </a:p>
          <a:p>
            <a:pPr indent="0" lvl="0" marL="457200" rtl="0" algn="l">
              <a:lnSpc>
                <a:spcPct val="150000"/>
              </a:lnSpc>
              <a:spcBef>
                <a:spcPts val="0"/>
              </a:spcBef>
              <a:spcAft>
                <a:spcPts val="0"/>
              </a:spcAft>
              <a:buNone/>
            </a:pPr>
            <a:r>
              <a:rPr lang="en-GB" sz="1365">
                <a:solidFill>
                  <a:srgbClr val="202729"/>
                </a:solidFill>
                <a:latin typeface="Manrope SemiBold"/>
                <a:ea typeface="Manrope SemiBold"/>
                <a:cs typeface="Manrope SemiBold"/>
                <a:sym typeface="Manrope SemiBold"/>
              </a:rPr>
              <a:t>These choices keep the solution reproducible, explainable, fast, and submission-safe. No secret keys are stored in code; Gemini is enabled only through GEMINI_API_KEY.</a:t>
            </a:r>
            <a:endParaRPr sz="1365">
              <a:solidFill>
                <a:srgbClr val="202729"/>
              </a:solidFill>
              <a:latin typeface="Manrope SemiBold"/>
              <a:ea typeface="Manrope SemiBold"/>
              <a:cs typeface="Manrope SemiBold"/>
              <a:sym typeface="Manrope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2" title="overlay redrob.png"/>
          <p:cNvPicPr preferRelativeResize="0"/>
          <p:nvPr/>
        </p:nvPicPr>
        <p:blipFill rotWithShape="1">
          <a:blip r:embed="rId3">
            <a:alphaModFix/>
          </a:blip>
          <a:srcRect b="0" l="0" r="0" t="0"/>
          <a:stretch/>
        </p:blipFill>
        <p:spPr>
          <a:xfrm>
            <a:off x="0" y="0"/>
            <a:ext cx="9143997" cy="5143490"/>
          </a:xfrm>
          <a:prstGeom prst="rect">
            <a:avLst/>
          </a:prstGeom>
          <a:noFill/>
          <a:ln>
            <a:noFill/>
          </a:ln>
        </p:spPr>
      </p:pic>
      <p:sp>
        <p:nvSpPr>
          <p:cNvPr id="118" name="Google Shape;118;p22"/>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Submission Assets</a:t>
            </a:r>
            <a:endParaRPr>
              <a:solidFill>
                <a:srgbClr val="202729"/>
              </a:solidFill>
              <a:latin typeface="Manrope ExtraBold"/>
              <a:ea typeface="Manrope ExtraBold"/>
              <a:cs typeface="Manrope ExtraBold"/>
              <a:sym typeface="Manrope ExtraBold"/>
            </a:endParaRPr>
          </a:p>
        </p:txBody>
      </p:sp>
      <p:sp>
        <p:nvSpPr>
          <p:cNvPr id="119" name="Google Shape;119;p22"/>
          <p:cNvSpPr txBox="1"/>
          <p:nvPr/>
        </p:nvSpPr>
        <p:spPr>
          <a:xfrm>
            <a:off x="480500" y="1278500"/>
            <a:ext cx="7968600" cy="3198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GB" sz="1365">
                <a:solidFill>
                  <a:srgbClr val="202729"/>
                </a:solidFill>
                <a:latin typeface="Manrope SemiBold"/>
                <a:ea typeface="Manrope SemiBold"/>
                <a:cs typeface="Manrope SemiBold"/>
                <a:sym typeface="Manrope SemiBold"/>
              </a:rPr>
              <a:t>GitHub repository: https://github.com/Antriksh-22/Data-ai-challenge-redrob-
Final submission CSV: redrob_submission.csv, validated with official validate_submission.py.
Ranked recommendations PDF: recommended_candidates_report.pdf.
Generated on: 2026-06-07.</a:t>
            </a:r>
            <a:endParaRPr sz="1365">
              <a:solidFill>
                <a:srgbClr val="202729"/>
              </a:solidFill>
              <a:latin typeface="Manrope SemiBold"/>
              <a:ea typeface="Manrope SemiBold"/>
              <a:cs typeface="Manrope SemiBold"/>
              <a:sym typeface="Manrope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3" title="thank you slide.pn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